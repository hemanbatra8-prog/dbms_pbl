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Review 1 for the Railway Ticket Reservation and Journey Management System. Today we present our problem formulation, stakeholder analysis, core business rules, and conceptual ER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clarifies the core technical problem: unlike simple airline ticketing, rail seats represent ordered intervals. Our relational design allows safe reuse on non-overlapping segments while preventing conflicts.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defines the project objectives across schema design, transaction logic, and reports, while clearly separating the academic prototype scope from external banking or live GPS integrations.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specifies the stakeholder roles: Passengers who execute bookings and cancellations, Reservation Operators who inspect charts, and Database Administrators who manage trains, routes, and fare policies.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establishes formal functional and non-functional requirements, emphasizing ACID transaction safety, exact financial precision using DECIMAL, and responsive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defines the testable business rules. Pay special attention to BR-3 and BR-4: the interval overlap rule guarantees that non-overlapping passengers can reuse the same seat while conflicting requests are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shows the conceptual ER diagram. Notice how Route and Station connect via Train_Stop to represent ordered intermediate halts, while Booking and Seat connect via Journey_Segment to represent segment-wise inventory allocations.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details the entity inventory and cardinalities. Every entity has a strictly defined domain responsibility, eliminating multivalued anomalies.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presents the formal relational schema notation covering all 14 entities. Primary keys, foreign keys, and unique constraints are explicitly mapped.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illustrates our 4-tier system architecture from browser UI to Flask controller, business services, and MySQL InnoDB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outlines our 3-stage academic milestone plan leading up to the final working prototype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82880" cy="3840480"/>
          </a:xfrm>
          <a:prstGeom prst="rect">
            <a:avLst/>
          </a:prstGeom>
          <a:solidFill>
            <a:srgbClr val="E6A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oxse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1188720"/>
            <a:ext cx="2468880" cy="13324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28016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6A117"/>
                </a:solidFill>
                <a:latin typeface="Arial"/>
              </a:defRPr>
            </a:pPr>
            <a:r>
              <a:t>WOXSEN UNIVERSITY | SCHOOL OF TECHNOLOGY | DBMS COURSEWORK</a:t>
            </a:r>
          </a:p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Railway Ticket Reservation and</a:t>
            </a:r>
            <a:br/>
            <a:r>
              <a:t>Journey Management System</a:t>
            </a:r>
          </a:p>
          <a:p>
            <a:pPr>
              <a:spcBef>
                <a:spcPts val="1400"/>
              </a:spcBef>
              <a:defRPr sz="1800">
                <a:solidFill>
                  <a:srgbClr val="CBD5E1"/>
                </a:solidFill>
                <a:latin typeface="Arial"/>
              </a:defRPr>
            </a:pPr>
            <a:r>
              <a:t>REVIEW 1: Problem Identification, Requirements, and Conceptual ER Design</a:t>
            </a:r>
          </a:p>
          <a:p>
            <a:pPr>
              <a:spcBef>
                <a:spcPts val="2800"/>
              </a:spcBef>
              <a:defRPr sz="1200">
                <a:solidFill>
                  <a:srgbClr val="94A3B8"/>
                </a:solidFill>
                <a:latin typeface="Arial"/>
              </a:defRPr>
            </a:pPr>
            <a:r>
              <a:t>Student Name: Heman  |  Roll Number: 25WU0102097  |  Section: AIML Rhinos</a:t>
            </a:r>
            <a:br/>
            <a:r>
              <a:t>Faculty Mentor: Prof. Sahithi  |  School of Technology, Woxsen University  |  Review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PROJECT MOTIVATION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Problem Identification in Railway Journey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Core Technical Challenges in Multi-Hop Inventory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0F2B48"/>
                </a:solidFill>
              </a:defRPr>
            </a:pPr>
            <a:r>
              <a:t>• Monolithic vs Interval Seat Allocation: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Airline seats are occupied for the entire flight. In rail transport, a train visits 10+ stations. A seat can be booked from A-B, vacated, and immediately re-booked from B-D by another passenger.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Overlapping Segment Conflicts: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If Passenger 1 holds A-C, Passenger 2 cannot book B-D on the same seat because segment [B, C) is contested. Naive databases cause either catastrophic double-booking or severe capacity waste.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Coupling Definition vs Dated Runs: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Storing train definitions with travel dates causes severe redundancy and update anomalies.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Auditability &amp; Financial Integrity: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Cancellations, refunds, and queue promotions require transactional consistency across multiple tables.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Relational Database Solution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200">
                <a:solidFill>
                  <a:srgbClr val="0F2B48"/>
                </a:solidFill>
              </a:defRPr>
            </a:pPr>
            <a:r>
              <a:t>• Segment-Wise Relational Modeling: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Model seats over half-open intervals [origin_seq, dest_seq) in a dedicated journey_segments table.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Mathematical Overlap Formula: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Enforce s &lt; r_end AND r_start &lt; e across active allocations.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ACID Transaction Isolation: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Use row-level locking (SELECT ... FOR UPDATE) to serialize competing requests on candidate seats.</a:t>
            </a:r>
          </a:p>
          <a:p>
            <a:pPr>
              <a:defRPr b="1" sz="1200">
                <a:solidFill>
                  <a:srgbClr val="0F2B48"/>
                </a:solidFill>
              </a:defRPr>
            </a:pPr>
            <a:r>
              <a:t>• Third Normal Form (3NF) Schema:</a:t>
            </a:r>
          </a:p>
          <a:p>
            <a:pPr>
              <a:spcAft>
                <a:spcPts val="800"/>
              </a:spcAft>
              <a:defRPr sz="1050">
                <a:solidFill>
                  <a:srgbClr val="1E293B"/>
                </a:solidFill>
              </a:defRPr>
            </a:pPr>
            <a:r>
              <a:t>  Separate stations, routes, trains, dated runs, coaches, seats, passengers, bookings, and payments into 14 distinct relations.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SCOPE &amp; BOUNDARY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Project Objectives &amp; Scope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1. Relational Database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Develop an enterprise schema with 14 normalized relations in 3NF.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Implement primary keys, foreign keys with ON DELETE rules, and domain CHECK constraints.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Ensure entity decoupling: stations, ordered stops, locomotive definitions, and calendar runs.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Use exact monetary DECIMAL(10,2) types to eliminate floating-point rounding errors.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2. Business Logic &amp;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Implement half-open interval seat allocation [origin_seq, dest_seq).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Guarantee transaction safety via pessimistic row locking (FOR UPDATE).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Deterministic fare calculation using distance rates and travel class multipliers.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✔ Automated FIFO waitlist queue allocation and promotion upon cancellation.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3. Project Scope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100">
                <a:solidFill>
                  <a:srgbClr val="10B981"/>
                </a:solidFill>
              </a:defRPr>
            </a:pPr>
            <a:r>
              <a:t>INCLUDED IN PROTOTYPE:</a:t>
            </a:r>
          </a:p>
          <a:p>
            <a:pPr>
              <a:spcAft>
                <a:spcPts val="400"/>
              </a:spcAft>
              <a:defRPr sz="1000"/>
            </a:pPr>
            <a:r>
              <a:t>• Full relational schema in MySQL 8.x / SQLite</a:t>
            </a:r>
          </a:p>
          <a:p>
            <a:pPr>
              <a:spcAft>
                <a:spcPts val="400"/>
              </a:spcAft>
              <a:defRPr sz="1000"/>
            </a:pPr>
            <a:r>
              <a:t>• Interactive web UI with train search &amp; booking</a:t>
            </a:r>
          </a:p>
          <a:p>
            <a:pPr>
              <a:spcAft>
                <a:spcPts val="400"/>
              </a:spcAft>
              <a:defRPr sz="1000"/>
            </a:pPr>
            <a:r>
              <a:t>• 12 Advanced SQL reports and analytical queries</a:t>
            </a:r>
          </a:p>
          <a:p>
            <a:pPr>
              <a:spcAft>
                <a:spcPts val="400"/>
              </a:spcAft>
              <a:defRPr sz="1000"/>
            </a:pPr>
            <a:r>
              <a:t>• Automated pytest suite covering all integrity rules</a:t>
            </a:r>
          </a:p>
          <a:p>
            <a:pPr>
              <a:spcBef>
                <a:spcPts val="800"/>
              </a:spcBef>
              <a:defRPr b="1" sz="1100">
                <a:solidFill>
                  <a:srgbClr val="EF4444"/>
                </a:solidFill>
              </a:defRPr>
            </a:pPr>
            <a:r>
              <a:t>EXCLUDED FROM SCOPE:</a:t>
            </a:r>
          </a:p>
          <a:p>
            <a:pPr>
              <a:spcAft>
                <a:spcPts val="400"/>
              </a:spcAft>
              <a:defRPr sz="1000"/>
            </a:pPr>
            <a:r>
              <a:t>• Live external Indian Railway API integration</a:t>
            </a:r>
          </a:p>
          <a:p>
            <a:pPr>
              <a:spcAft>
                <a:spcPts val="400"/>
              </a:spcAft>
              <a:defRPr sz="1000"/>
            </a:pPr>
            <a:r>
              <a:t>• Real banking payment gateway (UPI is simulated)</a:t>
            </a:r>
          </a:p>
          <a:p>
            <a:pPr>
              <a:spcAft>
                <a:spcPts val="400"/>
              </a:spcAft>
              <a:defRPr sz="1000"/>
            </a:pPr>
            <a:r>
              <a:t>• Hardware ticketing kiosk devices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USER MODELING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Stakeholders and System User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Passenger / Traveler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1A426E"/>
                </a:solidFill>
              </a:defRPr>
            </a:pPr>
            <a:r>
              <a:t>Role Type: End-Users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Search trains between any two stations on selected dates.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Check live seat availability by travel class (CC, 1A, 2A, 3A, SL).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Book tickets with berth preferences and receive 10-digit PNR.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Check PNR status, view ERS slip, and check waitlist position.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Cancel confirmed or waitlisted bookings and claim refund.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Reservation Operator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1A426E"/>
                </a:solidFill>
              </a:defRPr>
            </a:pPr>
            <a:r>
              <a:t>Role Type: Ticket Counter Staff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Issue counter tickets on behalf of walk-in passengers.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Lookup passenger profiles and manage ticket cancellations.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Monitor live coach occupancy rates prior to chart preparation.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Verify passenger identification credentials (Aadhaar, Passport).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Database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19202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100">
                <a:solidFill>
                  <a:srgbClr val="1A426E"/>
                </a:solidFill>
              </a:defRPr>
            </a:pPr>
            <a:r>
              <a:t>Role Type: System &amp; Schema Admins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Manage station nodes, train catalog definitions, and route stops.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Configure operational train runs and assign coach compositions.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Maintain tariff rules (base fare, rate/km, reservation fees).</a:t>
            </a:r>
          </a:p>
          <a:p>
            <a:pPr>
              <a:spcAft>
                <a:spcPts val="800"/>
              </a:spcAft>
              <a:defRPr sz="1000">
                <a:solidFill>
                  <a:srgbClr val="1E293B"/>
                </a:solidFill>
              </a:defRPr>
            </a:pPr>
            <a:r>
              <a:t>✔ Execute database audits, integrity checks, and SQL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REQUIREMENTS ENGINEERING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System Requirements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12064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Functional Requirements (FR)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/>
            </a:pPr>
            <a:r>
              <a:t>• FR-01 Train Discovery: Search trains between origin and destination on a travel date; enforce origin stop sequence &lt; destination stop sequence.</a:t>
            </a:r>
          </a:p>
          <a:p>
            <a:pPr>
              <a:spcAft>
                <a:spcPts val="600"/>
              </a:spcAft>
              <a:defRPr sz="1050"/>
            </a:pPr>
            <a:r>
              <a:t>• FR-02 Segment Availability: Compute real-time free seats per travel class using the interval non-overlap condition.</a:t>
            </a:r>
          </a:p>
          <a:p>
            <a:pPr>
              <a:spcAft>
                <a:spcPts val="600"/>
              </a:spcAft>
              <a:defRPr sz="1050"/>
            </a:pPr>
            <a:r>
              <a:t>• FR-03 Ticket Reservation: Atomic booking generation with unique 10-digit PNR, berth assignment, and payment record.</a:t>
            </a:r>
          </a:p>
          <a:p>
            <a:pPr>
              <a:spcAft>
                <a:spcPts val="600"/>
              </a:spcAft>
              <a:defRPr sz="1050"/>
            </a:pPr>
            <a:r>
              <a:t>• FR-04 Waitlist Management: Automatic placement into a sequenced queue when segment capacity is exhausted.</a:t>
            </a:r>
          </a:p>
          <a:p>
            <a:pPr>
              <a:spcAft>
                <a:spcPts val="600"/>
              </a:spcAft>
              <a:defRPr sz="1050"/>
            </a:pPr>
            <a:r>
              <a:t>• FR-05 Cancellation &amp; Refund: Process voluntary cancellations, apply policy deductions (20%), and execute waitlist promotion.</a:t>
            </a:r>
          </a:p>
          <a:p>
            <a:pPr>
              <a:spcAft>
                <a:spcPts val="600"/>
              </a:spcAft>
              <a:defRPr sz="1050"/>
            </a:pPr>
            <a:r>
              <a:t>• FR-06 SQL Reporting: Execute 12 analytical queries including occupancy, revenue reconciliation, and route demand.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Non-Functional Requirements (NFR)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50"/>
            </a:pPr>
            <a:r>
              <a:t>• NFR-01 Data Integrity (ACID): All updates wrapped in transactions; rollback on any failure; declarative foreign keys and CHECK constraints.</a:t>
            </a:r>
          </a:p>
          <a:p>
            <a:pPr>
              <a:spcAft>
                <a:spcPts val="800"/>
              </a:spcAft>
              <a:defRPr sz="1050"/>
            </a:pPr>
            <a:r>
              <a:t>• NFR-02 Concurrency Safety: Serialize concurrent bookings using InnoDB row-level locking (SELECT ... FOR UPDATE) to eliminate race conditions.</a:t>
            </a:r>
          </a:p>
          <a:p>
            <a:pPr>
              <a:spcAft>
                <a:spcPts val="800"/>
              </a:spcAft>
              <a:defRPr sz="1050"/>
            </a:pPr>
            <a:r>
              <a:t>• NFR-03 Financial Precision: Store monetary amounts strictly as DECIMAL(10,2) to eliminate floating-point rounding errors.</a:t>
            </a:r>
          </a:p>
          <a:p>
            <a:pPr>
              <a:spcAft>
                <a:spcPts val="800"/>
              </a:spcAft>
              <a:defRPr sz="1050"/>
            </a:pPr>
            <a:r>
              <a:t>• NFR-04 Performance &amp; Indexing: B-Tree indexes on PNR, station codes, train numbers, and segment allocation intervals for sub-second responses.</a:t>
            </a:r>
          </a:p>
          <a:p>
            <a:pPr>
              <a:spcAft>
                <a:spcPts val="800"/>
              </a:spcAft>
              <a:defRPr sz="1050"/>
            </a:pPr>
            <a:r>
              <a:t>• NFR-05 Usability &amp; Responsiveness: Intuitive browser interface formatted like an official IRCTC electronic reservation slip.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DOMAIN LOGIC &amp; CONSTRAINTS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Core Business Rules &amp; Invariants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Formal Business Invariants Enforced by Database &amp; 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BR-1: Train Catalog vs Run Decoupling: </a:t>
            </a:r>
            <a:r>
              <a:rPr b="0" sz="1050">
                <a:solidFill>
                  <a:srgbClr val="1E293B"/>
                </a:solidFill>
              </a:rPr>
              <a:t>A train represents master route metadata; a train run represents an operational departure on a specific date. Bookings on different dates for the same train number must never conflict.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BR-2: Route Progression Invariant: </a:t>
            </a:r>
            <a:r>
              <a:rPr b="0" sz="1050">
                <a:solidFill>
                  <a:srgbClr val="1E293B"/>
                </a:solidFill>
              </a:rPr>
              <a:t>Stations must be sequenced with positive integers (1, 2, 3...). A valid journey requires origin_stop_seq &lt; destination_stop_seq.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BR-3: Segment Interval Exclusion: </a:t>
            </a:r>
            <a:r>
              <a:rPr b="0" sz="1050">
                <a:solidFill>
                  <a:srgbClr val="1E293B"/>
                </a:solidFill>
              </a:rPr>
              <a:t>A confirmed reservation allocates a seat over half-open interval [s, e). Two allocations on the same seat overlap iff existing.start &lt; req.end AND req.start &lt; existing.end. Overlapping requests must be rejected.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BR-4: Non-Overlapping Seat Reuse: </a:t>
            </a:r>
            <a:r>
              <a:rPr b="0" sz="1050">
                <a:solidFill>
                  <a:srgbClr val="1E293B"/>
                </a:solidFill>
              </a:rPr>
              <a:t>Two distinct passengers may hold the exact same physical seat on the same train run provided their journey intervals are disjoint (e.g., Passenger A on [1, 2) and Passenger B on [2, 4)).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BR-5: Waitlist Serialization: </a:t>
            </a:r>
            <a:r>
              <a:rPr b="0" sz="1050">
                <a:solidFill>
                  <a:srgbClr val="1E293B"/>
                </a:solidFill>
              </a:rPr>
              <a:t>Waitlist entries are scoped by (run_id, travel_class) and assigned sequential queue positions (1, 2, 3...) using atomic transactions.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BR-6: Deterministic Cancellation Policy: </a:t>
            </a:r>
            <a:r>
              <a:rPr b="0" sz="1050">
                <a:solidFill>
                  <a:srgbClr val="1E293B"/>
                </a:solidFill>
              </a:rPr>
              <a:t>Voluntary cancellation of a confirmed ticket retains 20% cancellation fee and disburses 80% refund. Waitlisted tickets deduct a flat ₹30 clerkage fee.</a:t>
            </a:r>
          </a:p>
          <a:p>
            <a:pPr>
              <a:spcAft>
                <a:spcPts val="700"/>
              </a:spcAft>
              <a:defRPr b="1" sz="1100">
                <a:solidFill>
                  <a:srgbClr val="0F2B48"/>
                </a:solidFill>
              </a:defRPr>
            </a:pPr>
            <a:r>
              <a:t>BR-7: Atomic Waitlist Promotion: </a:t>
            </a:r>
            <a:r>
              <a:rPr b="0" sz="1050">
                <a:solidFill>
                  <a:srgbClr val="1E293B"/>
                </a:solidFill>
              </a:rPr>
              <a:t>Cancelling a confirmed seat immediately checks the waitlist queue in FIFO order, promoting the first candidate whose requested interval is satisfied, updating both records in one transaction.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DATABASE DESIGN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Conceptual Entity-Relationship (ER)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ER Model Architecture: Entities, Cardinalities &amp; Junctions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STATION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station_id</a:t>
            </a:r>
            <a:br/>
            <a:r>
              <a:t>station_code (UQ)</a:t>
            </a:r>
            <a:br/>
            <a:r>
              <a:t>station_name, city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201168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ROUTE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route_id</a:t>
            </a:r>
            <a:br/>
            <a:r>
              <a:t>route_code (UQ)</a:t>
            </a:r>
            <a:br/>
            <a:r>
              <a:t>src_stn, dst_stn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TRAIN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train_id</a:t>
            </a:r>
            <a:br/>
            <a:r>
              <a:t>train_number (UQ)</a:t>
            </a:r>
            <a:br/>
            <a:r>
              <a:t>train_name, route_id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01168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TRAIN_RUN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run_id</a:t>
            </a:r>
            <a:br/>
            <a:r>
              <a:t>train_id (FK)</a:t>
            </a:r>
            <a:br/>
            <a:r>
              <a:t>run_date (UQ), 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56616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TRAIN_STOP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stop_id</a:t>
            </a:r>
            <a:br/>
            <a:r>
              <a:t>route_id, station_id</a:t>
            </a:r>
            <a:br/>
            <a:r>
              <a:t>stop_sequence (UQ)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356616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COACH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coach_id</a:t>
            </a:r>
            <a:br/>
            <a:r>
              <a:t>train_id, coach_code</a:t>
            </a:r>
            <a:br/>
            <a:r>
              <a:t>travel_class, seats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356616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SEAT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seat_id</a:t>
            </a:r>
            <a:br/>
            <a:r>
              <a:t>coach_id (FK)</a:t>
            </a:r>
            <a:br/>
            <a:r>
              <a:t>seat_number, berth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84632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PASSENGER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passenger_id</a:t>
            </a:r>
            <a:br/>
            <a:r>
              <a:t>full_name, age, gender</a:t>
            </a:r>
            <a:br/>
            <a:r>
              <a:t>email, id_card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846320"/>
            <a:ext cx="219456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BOOKING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booking_id</a:t>
            </a:r>
            <a:br/>
            <a:r>
              <a:t>pnr_number (UQ)</a:t>
            </a:r>
            <a:br/>
            <a:r>
              <a:t>run_id, passenger_id</a:t>
            </a:r>
            <a:br/>
            <a:r>
              <a:t>orig_stn, dest_stn, fare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846320"/>
            <a:ext cx="219456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JOURNEY_SEGMENT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segment_id</a:t>
            </a:r>
            <a:br/>
            <a:r>
              <a:t>booking_id, seat_id, run_id</a:t>
            </a:r>
            <a:br/>
            <a:r>
              <a:t>[start_seq, end_seq)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4846320"/>
            <a:ext cx="2011680" cy="10058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1100" b="1">
                <a:solidFill>
                  <a:srgbClr val="0F2B48"/>
                </a:solidFill>
                <a:latin typeface="Arial"/>
              </a:defRPr>
            </a:pPr>
            <a:r>
              <a:t>WAITLIST</a:t>
            </a:r>
          </a:p>
          <a:p>
            <a:pPr>
              <a:defRPr sz="850">
                <a:solidFill>
                  <a:srgbClr val="1E293B"/>
                </a:solidFill>
                <a:latin typeface="Arial"/>
              </a:defRPr>
            </a:pPr>
            <a:r>
              <a:t>PK: waitlist_id</a:t>
            </a:r>
            <a:br/>
            <a:r>
              <a:t>booking_id, run_id</a:t>
            </a:r>
            <a:br/>
            <a:r>
              <a:t>class, position, status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DATA DICTIONARY &amp; RELATIONSHIPS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Entity Responsibilities and Cardinalities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Entity Inventory and Cardinality Matrix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103327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2926080"/>
                <a:gridCol w="2011680"/>
                <a:gridCol w="2468880"/>
              </a:tblGrid>
              <a:tr h="49149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Entity Name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Primary Key &amp; Unique Attributes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Cardinality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Core Responsibility</a:t>
                      </a:r>
                    </a:p>
                  </a:txBody>
                  <a:tcPr>
                    <a:solidFill>
                      <a:srgbClr val="0F2B4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station_id | UQ: station_code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with Train_Stop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Physical geographic railway passenger nodes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Route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Master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route_id | UQ: route_code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with Train, Train_Stop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Track corridors linking source and destination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train_id | UQ: train_number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with Train_Run, Coach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Static train catalogs (Vande Bharat, Rajdhani)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Train_Run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Operational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run_id | UQ: (train_id, run_date)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with Booking, Segment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Dated calendar train departures (3NF Decoupling)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Coach &amp; 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Inventory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coach_id, seat_id | UQ: seat_num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Coach to Seat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Rolling stock physical seating units &amp; berth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Passenger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passenger_id | UQ: 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: N with Booking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Registered traveler identity and contact records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Journey_Segment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Allocation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PK: segment_id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M : 1 with Booking, Seat, 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Interval seat allocation [start_seq, end_seq)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LOGICAL SCHEMA DESIGN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Initial Relational Schema Notation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Formally Specified Relational Schema (14 Relations)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1. STATIONS (station_id PK, station_code UNIQUE, station_name, city, state)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2. ROUTES (route_id PK, route_code UNIQUE, source_station_id FK, destination_station_id FK, total_distance_km)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3. TRAIN_STOPS (stop_id PK, route_id FK, station_id FK, stop_sequence, distance_from_source_km, arrival_time, departure_time)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4. TRAINS (train_id PK, train_number UNIQUE, train_name, train_type, route_id FK)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5. TRAIN_RUNS (run_id PK, train_id FK, run_date, status) [UNIQUE: train_id, run_date]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6. COACHES (coach_id PK, train_id FK, coach_code, travel_class, total_seats) [UNIQUE: train_id, coach_code]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7. SEATS (seat_id PK, coach_id FK, seat_number, berth_type) [UNIQUE: coach_id, seat_number]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8. PASSENGERS (passenger_id PK, full_name, gender, age, email, phone, id_card_type, id_card_number)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9. FARE_RULES (fare_id PK, train_type, travel_class, base_fare, rate_per_km, reservation_fee) [UNIQUE: train_type, travel_class]</a:t>
            </a:r>
          </a:p>
          <a:p>
            <a:pPr>
              <a:spcAft>
                <a:spcPts val="400"/>
              </a:spcAft>
              <a:defRPr sz="950" b="1">
                <a:solidFill>
                  <a:srgbClr val="0F2B48"/>
                </a:solidFill>
                <a:latin typeface="Courier New"/>
              </a:defRPr>
            </a:pPr>
            <a:r>
              <a:t>10. BOOKINGS (booking_id PK, pnr_number UNIQUE, run_id FK, passenger_id FK, origin_station_id FK, destination_station_id FK, origin_stop_seq, destination_stop_seq, travel_class, booking_status, total_fare, booked_at)</a:t>
            </a:r>
          </a:p>
          <a:p>
            <a:pPr>
              <a:spcAft>
                <a:spcPts val="400"/>
              </a:spcAft>
              <a:defRPr sz="950" b="1">
                <a:solidFill>
                  <a:srgbClr val="0F2B48"/>
                </a:solidFill>
                <a:latin typeface="Courier New"/>
              </a:defRPr>
            </a:pPr>
            <a:r>
              <a:t>11. JOURNEY_SEGMENTS (segment_id PK, booking_id FK, seat_id FK, run_id FK, start_stop_seq, end_stop_seq, allocation_status)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12. WAITLISTS (waitlist_id PK, booking_id FK, run_id FK, travel_class, origin_stop_seq, destination_stop_seq, position, waitlist_status, created_at)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13. PAYMENTS (payment_id PK, booking_id FK, amount, payment_method, transaction_reference UNIQUE, payment_status, paid_at)</a:t>
            </a:r>
          </a:p>
          <a:p>
            <a:pPr>
              <a:spcAft>
                <a:spcPts val="400"/>
              </a:spcAft>
              <a:defRPr sz="950" b="0">
                <a:solidFill>
                  <a:srgbClr val="0F2B48"/>
                </a:solidFill>
                <a:latin typeface="Courier New"/>
              </a:defRPr>
            </a:pPr>
            <a:r>
              <a:t>14. CANCELLATIONS (cancellation_id PK, booking_id FK UNIQUE, cancellation_reason, cancellation_fee, refund_amount, refund_status, cancelled_at)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SYSTEM ARCHITECTURE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Proposed Full-Stack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Multi-Tier Relational Application Data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Presentation Layer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HTML5, CSS3, Bootstrap 5</a:t>
            </a:r>
            <a:br/>
            <a:r>
              <a:t>Jinja2 Server Templates</a:t>
            </a:r>
            <a:br/>
            <a:r>
              <a:t>Responsive Ticket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Application Layer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Python 3 &amp; Flask Framework</a:t>
            </a:r>
            <a:br/>
            <a:r>
              <a:t>Blueprint Route Handlers</a:t>
            </a:r>
            <a:br/>
            <a:r>
              <a:t>Server-side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Business Service Layer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Availability Service [s, e)</a:t>
            </a:r>
            <a:br/>
            <a:r>
              <a:t>Transaction Booking Engine</a:t>
            </a:r>
            <a:br/>
            <a:r>
              <a:t>Waitlist Promotion &amp; Refunds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2011680"/>
            <a:ext cx="2194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82880"/>
          <a:lstStyle/>
          <a:p>
            <a:pPr algn="ctr">
              <a:spcAft>
                <a:spcPts val="1200"/>
              </a:spcAft>
              <a:defRPr sz="1300" b="1">
                <a:solidFill>
                  <a:srgbClr val="0F2B48"/>
                </a:solidFill>
                <a:latin typeface="Arial"/>
              </a:defRPr>
            </a:pPr>
            <a:r>
              <a:t>Persistence Layer</a:t>
            </a:r>
          </a:p>
          <a:p>
            <a:pPr>
              <a:defRPr sz="1050">
                <a:solidFill>
                  <a:srgbClr val="1E293B"/>
                </a:solidFill>
                <a:latin typeface="Arial"/>
              </a:defRPr>
            </a:pPr>
            <a:r>
              <a:t>MySQL 8.x InnoDB RDBMS</a:t>
            </a:r>
            <a:br/>
            <a:r>
              <a:t>SQLAlchemy ORM + Raw SQL</a:t>
            </a:r>
            <a:br/>
            <a:r>
              <a:t>ACID Locks &amp; 12 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1B2E"/>
          </a:solidFill>
          <a:ln w="31750">
            <a:solidFill>
              <a:srgbClr val="E6A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164592"/>
          <a:lstStyle/>
          <a:p>
            <a:pPr algn="ctr">
              <a:defRPr sz="1000" b="1">
                <a:solidFill>
                  <a:srgbClr val="E6A117"/>
                </a:solidFill>
                <a:latin typeface="Arial"/>
              </a:defRPr>
            </a:pPr>
            <a:r>
              <a:t>PROJECT PLANNING | REVIEW 1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Implementation &amp; Review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Arial"/>
              </a:defRPr>
            </a:pPr>
            <a:r>
              <a:t>Railway Ticket Reservation and Journey Management System | Review 1 | B.Tech CSE DBMS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2B48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09728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Three-Stage Milestone Plan (Week 7 to Week 16)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0F2B48"/>
                </a:solidFill>
                <a:latin typeface="Arial"/>
              </a:defRPr>
            </a:pPr>
            <a:r>
              <a:t>🎯 Review 1 (Week 7) - Conceptual Design &amp; Requirements [COMPLETED]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   Finalize business rules, stakeholder requirements, ER modeling, entity inventory, and initial relational schema mapping.</a:t>
            </a:r>
          </a:p>
          <a:p>
            <a:pPr>
              <a:defRPr sz="1300" b="1">
                <a:solidFill>
                  <a:srgbClr val="0F2B48"/>
                </a:solidFill>
                <a:latin typeface="Arial"/>
              </a:defRPr>
            </a:pPr>
            <a:r>
              <a:t>🎯 Review 2 (Week 11) - Normalization, DDL &amp; SQL Implementation [NEXT STAGE]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   Derive functional dependencies, prove 3NF normalization, deploy MySQL 8.x schema DDL with InnoDB constraints, seed benchmark records, and execute 12 analytical SQL queries.</a:t>
            </a:r>
          </a:p>
          <a:p>
            <a:pPr>
              <a:defRPr sz="1300" b="1">
                <a:solidFill>
                  <a:srgbClr val="0F2B48"/>
                </a:solidFill>
                <a:latin typeface="Arial"/>
              </a:defRPr>
            </a:pPr>
            <a:r>
              <a:t>🎯 Review 3 (Week 16) - Final Implementation, Testing &amp; Live Demo [FINAL STAGE]</a:t>
            </a:r>
          </a:p>
          <a:p>
            <a:pPr>
              <a:spcAft>
                <a:spcPts val="1600"/>
              </a:spcAft>
              <a:defRPr sz="1100">
                <a:solidFill>
                  <a:srgbClr val="1E293B"/>
                </a:solidFill>
                <a:latin typeface="Arial"/>
              </a:defRPr>
            </a:pPr>
            <a:r>
              <a:t>   Connect Flask web frontend with live database, verify segment-wise allocation and automated waitlist promotion, execute 16 automated pytest suites, and deliver final project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