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Review 2. We present our 3NF normalization proofs, functional dependency analysis, MySQL DDL schema, and executed SQL query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recaps the implemented schema. Primary, foreign, and unique constraints are fully defined across all 14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presents the formal functional dependencies. Every non-key attribute is determined by candidate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proves the normalization progression from UNF to 1NF (atomicity), 2NF (eliminating partial dependencies), and 3NF (eliminating transitive dependencies).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summarizes the data dictionary with precise data types and declarative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shows actual DDL statements demonstrating foreign keys, composite indexes, and check constraints on InnoDB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explains the mathematical interval overlap formula and shows our benchmark proof: Passenger 1 and 2 sharing Seat C1-1 on disjoint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details the waitlist queue management, cancellation fee policy, and the atomic promotion subroutine.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highlights actual executed SQL queries showing multi-table joins, GROUP BY, aggregations, and scalar subqueries.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inventories the 12 operational reports executed by the system and available in the web reporting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shows real automated testing evidence: 16 pytest test cases passing in 0.36 seconds with zero warnings or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concludes Review 2 with our roadmap toward the final Review 3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" cy="3840480"/>
          </a:xfrm>
          <a:prstGeom prst="rect">
            <a:avLst/>
          </a:prstGeom>
          <a:solidFill>
            <a:srgbClr val="E6A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oxse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188720"/>
            <a:ext cx="2468880" cy="1332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28016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6A117"/>
                </a:solidFill>
              </a:defRPr>
            </a:pPr>
            <a:r>
              <a:t>WOXSEN UNIVERSITY | SCHOOL OF TECHNOLOGY | DBMS COURSEWORK</a:t>
            </a:r>
          </a:p>
          <a:p>
            <a:pPr>
              <a:defRPr b="1" sz="3200">
                <a:solidFill>
                  <a:srgbClr val="FFFFFF"/>
                </a:solidFill>
              </a:defRPr>
            </a:pPr>
            <a:r>
              <a:t>Railway Ticket Reservation and</a:t>
            </a:r>
            <a:br/>
            <a:r>
              <a:t>Journey Management System</a:t>
            </a:r>
          </a:p>
          <a:p>
            <a:pPr>
              <a:spcBef>
                <a:spcPts val="1400"/>
              </a:spcBef>
              <a:defRPr sz="1800">
                <a:solidFill>
                  <a:srgbClr val="CBD5E1"/>
                </a:solidFill>
              </a:defRPr>
            </a:pPr>
            <a:r>
              <a:t>REVIEW 2: Normalization, DDL Constraints, and SQL Query Implementation</a:t>
            </a:r>
          </a:p>
          <a:p>
            <a:pPr>
              <a:spcBef>
                <a:spcPts val="2800"/>
              </a:spcBef>
              <a:defRPr sz="1200">
                <a:solidFill>
                  <a:srgbClr val="94A3B8"/>
                </a:solidFill>
              </a:defRPr>
            </a:pPr>
            <a:r>
              <a:t>Student Name: Heman  |  Roll Number: 25WU0102097  |  Section: AIML Rhinos</a:t>
            </a:r>
            <a:br/>
            <a:r>
              <a:t>Faculty Mentor: Prof. Sahithi  |  School of Technology, Woxsen University  |  Week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DATABASE ARCHITECTURE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Refined and Implemented 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14 Production-Ready Relational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STATIONS: </a:t>
            </a:r>
            <a:r>
              <a:rPr b="0" sz="1000"/>
              <a:t>PK: station_id | UNIQUE: station_code — Physical railway stations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ROUTES: </a:t>
            </a:r>
            <a:r>
              <a:rPr b="0" sz="1000"/>
              <a:t>PK: route_id | UNIQUE: route_code | FK: source_stn, dest_stn — Track corridors and total distance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TRAIN_STOPS: </a:t>
            </a:r>
            <a:r>
              <a:rPr b="0" sz="1000"/>
              <a:t>PK: stop_id | FK: route_id, station_id | UNIQUE: (route_id, stop_seq) — Ordered station stops and arrival/departure times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TRAINS: </a:t>
            </a:r>
            <a:r>
              <a:rPr b="0" sz="1000"/>
              <a:t>PK: train_id | UNIQUE: train_number | FK: route_id — Locomotive catalog (Vande Bharat, Rajdhani)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TRAIN_RUNS: </a:t>
            </a:r>
            <a:r>
              <a:rPr b="0" sz="1000"/>
              <a:t>PK: run_id | FK: train_id | UNIQUE: (train_id, run_date) — Operational calendar dates decoupled from trains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COACHES &amp; SEATS: </a:t>
            </a:r>
            <a:r>
              <a:rPr b="0" sz="1000"/>
              <a:t>PK: coach_id, seat_id | UNIQUE: (coach_id, seat_number) — Physical carriages and seat berth units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PASSENGERS: </a:t>
            </a:r>
            <a:r>
              <a:rPr b="0" sz="1000"/>
              <a:t>PK: passenger_id | UNIQUE: email | CHECK: age BETWEEN 1 AND 119 — Decoupled traveler identity records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BOOKINGS: </a:t>
            </a:r>
            <a:r>
              <a:rPr b="0" sz="1000"/>
              <a:t>PK: booking_id | UNIQUE: pnr_number | FK: run_id, passenger_id — Transactional booking records with fare and status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JOURNEY_SEGMENTS: </a:t>
            </a:r>
            <a:r>
              <a:rPr b="0" sz="1000"/>
              <a:t>PK: segment_id | FK: booking_id, seat_id, run_id — Half-open seat intervals [start_seq, end_seq)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WAITLISTS: </a:t>
            </a:r>
            <a:r>
              <a:rPr b="0" sz="1000"/>
              <a:t>PK: waitlist_id | FK: booking_id, run_id — FIFO queue positions for exhausted segments</a:t>
            </a:r>
          </a:p>
          <a:p>
            <a:pPr>
              <a:spcAft>
                <a:spcPts val="400"/>
              </a:spcAft>
              <a:defRPr b="1" sz="1050">
                <a:solidFill>
                  <a:srgbClr val="0F2B48"/>
                </a:solidFill>
              </a:defRPr>
            </a:pPr>
            <a:r>
              <a:t>• PAYMENTS &amp; CANCELS: </a:t>
            </a:r>
            <a:r>
              <a:rPr b="0" sz="1000"/>
              <a:t>PK: payment_id, cancellation_id | UNIQUE: txn_ref, booking_id — Audited payment and refund ledgers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RELATIONAL THEORY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Formal Functional Dependency (FD)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Minimal Candidate Keys and Functional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0F2B48"/>
                </a:solidFill>
              </a:defRPr>
            </a:pPr>
            <a:r>
              <a:t>✔ stations: CK = {station_id}, {station_code}: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 station_id -&gt; {station_code, station_name, city, state}</a:t>
            </a:r>
            <a:br/>
            <a:r>
              <a:t>station_code -&gt; {station_id, station_name, city, state}</a:t>
            </a:r>
          </a:p>
          <a:p>
            <a:pPr>
              <a:defRPr b="1" sz="1100">
                <a:solidFill>
                  <a:srgbClr val="0F2B48"/>
                </a:solidFill>
              </a:defRPr>
            </a:pPr>
            <a:r>
              <a:t>✔ trains: CK = {train_id}, {train_number}: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 train_id -&gt; {train_number, train_name, train_type, route_id}</a:t>
            </a:r>
            <a:br/>
            <a:r>
              <a:t>train_number -&gt; {train_id, train_name, train_type, route_id}</a:t>
            </a:r>
          </a:p>
          <a:p>
            <a:pPr>
              <a:defRPr b="1" sz="1100">
                <a:solidFill>
                  <a:srgbClr val="0F2B48"/>
                </a:solidFill>
              </a:defRPr>
            </a:pPr>
            <a:r>
              <a:t>✔ train_runs: CK = {run_id}, {train_id, run_date}: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 run_id -&gt; {train_id, run_date, status}</a:t>
            </a:r>
            <a:br/>
            <a:r>
              <a:t>{train_id, run_date} -&gt; {run_id, status}</a:t>
            </a:r>
          </a:p>
          <a:p>
            <a:pPr>
              <a:defRPr b="1" sz="1100">
                <a:solidFill>
                  <a:srgbClr val="0F2B48"/>
                </a:solidFill>
              </a:defRPr>
            </a:pPr>
            <a:r>
              <a:t>✔ train_stops: CK = {stop_id}, {route_id, stop_seq}: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 stop_id -&gt; {route_id, station_id, stop_seq, distance, arrival, dep}</a:t>
            </a:r>
            <a:br/>
            <a:r>
              <a:t>{route_id, stop_seq} -&gt; {stop_id, station_id, distance, arrival, dep}</a:t>
            </a:r>
          </a:p>
          <a:p>
            <a:pPr>
              <a:defRPr b="1" sz="1100">
                <a:solidFill>
                  <a:srgbClr val="0F2B48"/>
                </a:solidFill>
              </a:defRPr>
            </a:pPr>
            <a:r>
              <a:t>✔ passengers: CK = {passenger_id}, {email}: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 passenger_id -&gt; {full_name, gender, age, email, phone, id_card_type, id_card_num}</a:t>
            </a:r>
          </a:p>
          <a:p>
            <a:pPr>
              <a:defRPr b="1" sz="1100">
                <a:solidFill>
                  <a:srgbClr val="0F2B48"/>
                </a:solidFill>
              </a:defRPr>
            </a:pPr>
            <a:r>
              <a:t>✔ bookings: CK = {booking_id}, {pnr_number}: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 pnr_number -&gt; {booking_id, run_id, passenger_id, orig_stn, dest_stn, status, fare}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NORMALIZATION PROOF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Step-by-Step Normalization to Third Normal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1NF: Atomic Attributes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Problem in UNF:</a:t>
            </a:r>
            <a:br/>
            <a:r>
              <a:t>Spreadsheet contains repeating groups and multivalued stop lists (e.g. 'NDLS, CNB, PRYJ').</a:t>
            </a:r>
            <a:br/>
            <a:br/>
            <a:r>
              <a:t>Decomposition:</a:t>
            </a:r>
            <a:br/>
            <a:r>
              <a:t>• Decompose stops into discrete tuples: train_stops(stop_id, route_id, station_id, stop_sequence).</a:t>
            </a:r>
            <a:br/>
            <a:r>
              <a:t>• Remove multivalued passenger lists.</a:t>
            </a:r>
            <a:br/>
            <a:r>
              <a:t>• Every cell contains strictly atomic scalar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2NF: No Partial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Problem in 1NF:</a:t>
            </a:r>
            <a:br/>
            <a:r>
              <a:t>In composite key {train_id, run_date}, train_name depends solely on train_id, violating 2NF.</a:t>
            </a:r>
            <a:br/>
            <a:br/>
            <a:r>
              <a:t>Decomposition:</a:t>
            </a:r>
            <a:br/>
            <a:r>
              <a:t>• Isolate trains(train_id, train_name, train_type) from dated train_runs(run_id, train_id, run_date).</a:t>
            </a:r>
            <a:br/>
            <a:r>
              <a:t>• Isolate coaches and seats.</a:t>
            </a:r>
            <a:br/>
            <a:r>
              <a:t>• Isolate passenger profile attributes from bookings.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3NF: No Transitive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Problem in 2NF:</a:t>
            </a:r>
            <a:br/>
            <a:r>
              <a:t>In bookings, booking_id -&gt; cancellation_id -&gt; {refund_amt, fee}. Non-prime attributes depend transitively on cancellation_id.</a:t>
            </a:r>
            <a:br/>
            <a:br/>
            <a:r>
              <a:t>Decomposition:</a:t>
            </a:r>
            <a:br/>
            <a:r>
              <a:t>• Extract cancellations into dedicated table.</a:t>
            </a:r>
            <a:br/>
            <a:r>
              <a:t>• Extract payments into dedicated table.</a:t>
            </a:r>
            <a:br/>
            <a:r>
              <a:t>• Extract fare_rules into separate pricing catalog.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SCHEMA SPECIFICATIONS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Relational Data Dictionary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Core Entity Column Constraints &amp; Types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10332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280160"/>
                <a:gridCol w="914400"/>
                <a:gridCol w="2286000"/>
                <a:gridCol w="2560320"/>
              </a:tblGrid>
              <a:tr h="49149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Null?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/ Constraints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station_code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VARCHAR(10)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UNIQUE,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IRCTC station identifier (e.g. NDLS)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train_stops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stop_sequence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CHECK (&gt; 0), UQ(route, seq)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Ordered sequence position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train_runs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run_date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UQ(train_id, run_date)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Scheduled operational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passengers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CHECK (age &gt; 0 AND age &lt; 120)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Passenger legal 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total_fare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DECIMAL(10,2)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CHECK (total_fare &gt;=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Exact ticket purchase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journey_segments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allocation_status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DEFAULT 'ACTIVE', INDEX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'ACTIVE' or 'CANCELLED'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cancellations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refund_amount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DECIMAL(10,2)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CHECK (refund_amount &gt;=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Refund processed to passenger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PHYSICAL DATABASE DESIGN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MySQL DDL and Declarative Integrity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Production MySQL 8.x DDL Code Extracts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950">
                <a:solidFill>
                  <a:srgbClr val="0F2B48"/>
                </a:solidFill>
                <a:latin typeface="Courier New"/>
              </a:defRPr>
            </a:pPr>
            <a:r>
              <a:t>CREATE TABLE journey_segments (</a:t>
            </a:r>
            <a:br/>
            <a:r>
              <a:t>    segment_id INT AUTO_INCREMENT PRIMARY KEY,</a:t>
            </a:r>
            <a:br/>
            <a:r>
              <a:t>    booking_id INT NOT NULL,</a:t>
            </a:r>
            <a:br/>
            <a:r>
              <a:t>    seat_id INT NOT NULL,</a:t>
            </a:r>
            <a:br/>
            <a:r>
              <a:t>    run_id INT NOT NULL,</a:t>
            </a:r>
            <a:br/>
            <a:r>
              <a:t>    start_stop_seq INT NOT NULL,</a:t>
            </a:r>
            <a:br/>
            <a:r>
              <a:t>    end_stop_seq INT NOT NULL,</a:t>
            </a:r>
            <a:br/>
            <a:r>
              <a:t>    allocation_status VARCHAR(20) NOT NULL DEFAULT 'ACTIVE',</a:t>
            </a:r>
            <a:br/>
            <a:r>
              <a:t>    CONSTRAINT fk_seg_booking FOREIGN KEY (booking_id) REFERENCES bookings(booking_id) ON DELETE CASCADE,</a:t>
            </a:r>
            <a:br/>
            <a:r>
              <a:t>    CONSTRAINT fk_seg_seat FOREIGN KEY (seat_id) REFERENCES seats(seat_id) ON DELETE RESTRICT,</a:t>
            </a:r>
            <a:br/>
            <a:r>
              <a:t>    CONSTRAINT chk_seg_seq_order CHECK (end_stop_seq &gt; start_stop_seq),</a:t>
            </a:r>
            <a:br/>
            <a:r>
              <a:t>    INDEX idx_seat_run_alloc (run_id, seat_id, allocation_status)</a:t>
            </a:r>
            <a:br/>
            <a:r>
              <a:t>) ENGINE=InnoDB DEFAULT CHARSET=utf8mb4;</a:t>
            </a:r>
          </a:p>
          <a:p>
            <a:pPr>
              <a:spcAft>
                <a:spcPts val="800"/>
              </a:spcAft>
              <a:defRPr sz="950">
                <a:solidFill>
                  <a:srgbClr val="0F2B48"/>
                </a:solidFill>
                <a:latin typeface="Courier New"/>
              </a:defRPr>
            </a:pPr>
            <a:r>
              <a:t>CREATE TABLE waitlists (</a:t>
            </a:r>
            <a:br/>
            <a:r>
              <a:t>    waitlist_id INT AUTO_INCREMENT PRIMARY KEY,</a:t>
            </a:r>
            <a:br/>
            <a:r>
              <a:t>    booking_id INT NOT NULL,</a:t>
            </a:r>
            <a:br/>
            <a:r>
              <a:t>    run_id INT NOT NULL,</a:t>
            </a:r>
            <a:br/>
            <a:r>
              <a:t>    travel_class VARCHAR(10) NOT NULL,</a:t>
            </a:r>
            <a:br/>
            <a:r>
              <a:t>    position INT NOT NULL,</a:t>
            </a:r>
            <a:br/>
            <a:r>
              <a:t>    waitlist_status VARCHAR(20) NOT NULL DEFAULT 'WAITING',</a:t>
            </a:r>
            <a:br/>
            <a:r>
              <a:t>    CONSTRAINT chk_wl_pos_positive CHECK (position &gt; 0),</a:t>
            </a:r>
            <a:br/>
            <a:r>
              <a:t>    INDEX idx_wl_queue (run_id, travel_class, position)</a:t>
            </a:r>
            <a:br/>
            <a:r>
              <a:t>) ENGINE=InnoDB;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CORE ALLOCATION LOGIC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Segment-Wise Seat Availability and Overlap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The Half-Open Interval Formula [s, 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Interval Overlap Condition:</a:t>
            </a:r>
            <a:br/>
            <a:r>
              <a:t>For existing allocation [s, e) and requested interval [r_start, r_end):</a:t>
            </a:r>
            <a:br/>
            <a:br/>
            <a:r>
              <a:t>OVERLAP = (s &lt; r_end) AND (r_start &lt; e)</a:t>
            </a:r>
            <a:br/>
            <a:br/>
            <a:r>
              <a:t>Relational SQL Implementation:</a:t>
            </a:r>
            <a:br/>
            <a:r>
              <a:t>SELECT seat_id FROM journey_segments</a:t>
            </a:r>
            <a:br/>
            <a:r>
              <a:t>WHERE run_id = :run_id </a:t>
            </a:r>
            <a:br/>
            <a:r>
              <a:t>  AND allocation_status = 'ACTIVE'</a:t>
            </a:r>
            <a:br/>
            <a:r>
              <a:t>  AND start_stop_seq &lt; :req_end</a:t>
            </a:r>
            <a:br/>
            <a:r>
              <a:t>  AND :req_start &lt; end_stop_seq;</a:t>
            </a:r>
            <a:br/>
            <a:br/>
            <a:r>
              <a:t>Any seat returned by this query is currently occupied over the requested segment.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Empirical Seat Reuse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Route: NDLS(1) -&gt; CNB(2) -&gt; PRYJ(3) -&gt; BSB(4)</a:t>
            </a:r>
            <a:br/>
            <a:br/>
            <a:r>
              <a:t>Case 1: Valid Non-Overlapping Reuse (Seat C1-1)</a:t>
            </a:r>
            <a:br/>
            <a:r>
              <a:t>• Passenger 1 books NDLS -&gt; CNB: [1, 2)</a:t>
            </a:r>
            <a:br/>
            <a:r>
              <a:t>• Passenger 2 books CNB -&gt; BSB: [2, 4)</a:t>
            </a:r>
            <a:br/>
            <a:r>
              <a:t>Overlap Test: 1 &lt; 4 (True) AND 2 &lt; 2 (False) =&gt; NO CONFLICT!</a:t>
            </a:r>
            <a:br/>
            <a:r>
              <a:t>Both confirmed simultaneously on Seat C1-1!</a:t>
            </a:r>
            <a:br/>
            <a:br/>
            <a:r>
              <a:t>Case 2: Conflicting Request Blocked</a:t>
            </a:r>
            <a:br/>
            <a:r>
              <a:t>• Passenger 3 requests NDLS -&gt; BSB: [1, 4)</a:t>
            </a:r>
            <a:br/>
            <a:r>
              <a:t>Overlap Test with [1, 2): 1 &lt; 4 (True) AND 1 &lt; 2 (True) =&gt; CONFLICT!</a:t>
            </a:r>
            <a:br/>
            <a:r>
              <a:t>Seat C1-1 is blocked.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QUEUE &amp; REFUND POLICY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Waitlist Queue &amp; Atomic Promotion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Deterministic Cancellation &amp; Promotion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50">
                <a:solidFill>
                  <a:srgbClr val="0F2B48"/>
                </a:solidFill>
              </a:defRPr>
            </a:pPr>
            <a:r>
              <a:t>✔ 1. Queue Serialization: </a:t>
            </a:r>
            <a:r>
              <a:rPr b="0" sz="1050"/>
              <a:t>When a travel class is exhausted for an interval, bookings are placed into waitlists with position = MAX(position) + 1. Scoped strictly by (run_id, travel_class).</a:t>
            </a:r>
          </a:p>
          <a:p>
            <a:pPr>
              <a:spcAft>
                <a:spcPts val="1000"/>
              </a:spcAft>
              <a:defRPr b="1" sz="1150">
                <a:solidFill>
                  <a:srgbClr val="0F2B48"/>
                </a:solidFill>
              </a:defRPr>
            </a:pPr>
            <a:r>
              <a:t>✔ 2. Cancellation &amp; Deterministic Refund: </a:t>
            </a:r>
            <a:r>
              <a:rPr b="0" sz="1050"/>
              <a:t>Cancellation of confirmed ticket applies a 20% fee deduction (retained) and 80% refund. The journey_segments record transitions to CANCELLED.</a:t>
            </a:r>
          </a:p>
          <a:p>
            <a:pPr>
              <a:spcAft>
                <a:spcPts val="1000"/>
              </a:spcAft>
              <a:defRPr b="1" sz="1150">
                <a:solidFill>
                  <a:srgbClr val="0F2B48"/>
                </a:solidFill>
              </a:defRPr>
            </a:pPr>
            <a:r>
              <a:t>✔ 3. Re-verification of Waitlist Candidates: </a:t>
            </a:r>
            <a:r>
              <a:rPr b="0" sz="1050"/>
              <a:t>Waiting entries are retrieved in FIFO order (position ASC). The candidate's exact [origin, dest) interval is re-checked against all coach seats.</a:t>
            </a:r>
          </a:p>
          <a:p>
            <a:pPr>
              <a:spcAft>
                <a:spcPts val="1000"/>
              </a:spcAft>
              <a:defRPr b="1" sz="1150">
                <a:solidFill>
                  <a:srgbClr val="0F2B48"/>
                </a:solidFill>
              </a:defRPr>
            </a:pPr>
            <a:r>
              <a:t>✔ 4. Atomic Promotion Execution: </a:t>
            </a:r>
            <a:r>
              <a:rPr b="0" sz="1050"/>
              <a:t>If an eligible seat is found, a new JourneySegment is created, candidate booking becomes CONFIRMED, and waitlist status becomes PROMOTED within the same database transaction.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SQL QUERY ENGINEERING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SQL Implementation: Joins, Nested Queries &amp;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Executed SQL Query Extracts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950">
                <a:solidFill>
                  <a:srgbClr val="0F2B48"/>
                </a:solidFill>
                <a:latin typeface="Courier New"/>
              </a:defRPr>
            </a:pPr>
            <a:r>
              <a:t>-- 1. COACH OCCUPANCY WITH MULTI-TABLE JOINS &amp; AGGREGATION</a:t>
            </a:r>
            <a:br/>
            <a:r>
              <a:t>SELECT c.coach_code, c.travel_class, COUNT(DISTINCT js.segment_id) AS occupied,</a:t>
            </a:r>
            <a:br/>
            <a:r>
              <a:t>       ROUND(COUNT(DISTINCT js.segment_id) * 100.0 / c.total_seats, 2) AS occupancy_pct</a:t>
            </a:r>
            <a:br/>
            <a:r>
              <a:t>FROM coaches c JOIN seats s ON c.coach_id = s.coach_id</a:t>
            </a:r>
            <a:br/>
            <a:r>
              <a:t>LEFT JOIN journey_segments js ON s.seat_id = js.seat_id AND js.allocation_status = 'ACTIVE'</a:t>
            </a:r>
            <a:br/>
            <a:r>
              <a:t>GROUP BY c.coach_id, c.coach_code, c.travel_class, c.total_seats;</a:t>
            </a:r>
          </a:p>
          <a:p>
            <a:pPr>
              <a:spcAft>
                <a:spcPts val="1000"/>
              </a:spcAft>
              <a:defRPr sz="950">
                <a:solidFill>
                  <a:srgbClr val="0F2B48"/>
                </a:solidFill>
                <a:latin typeface="Courier New"/>
              </a:defRPr>
            </a:pPr>
            <a:r>
              <a:t>-- 2. FINANCIAL RECONCILIATION AUDIT (SCALAR NESTED SUBQUERIES)</a:t>
            </a:r>
            <a:br/>
            <a:r>
              <a:t>SELECT </a:t>
            </a:r>
            <a:br/>
            <a:r>
              <a:t>    (SELECT SUM(total_fare) FROM bookings) AS gross_booked_fare,</a:t>
            </a:r>
            <a:br/>
            <a:r>
              <a:t>    (SELECT SUM(amount) FROM payments WHERE payment_status = 'COMPLETED') AS net_collected,</a:t>
            </a:r>
            <a:br/>
            <a:r>
              <a:t>    (SELECT SUM(refund_amount) FROM cancellations) AS total_refunded;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ANALYTICAL REPORTS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12 Executed Benchmark SQL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Comprehensive SQL Reporting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1. Segment-Wise Seat Availability by Train &amp; Class      • 2. Passenger Booking History &amp; Detailed Itinerary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3. Active Waitlist Queue Priority &amp; Position            • 4. Coach Occupancy Percentage Ratio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5. Route Demand &amp; Passenger Volume Analysis             • 6. Cancellation Counts, Fees &amp; Refund Disbursed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7. Complete Journey Timetable &amp; Station Stops           • 8. Revenue Grouped by Train and Travel Class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9. Financial Reconciliation Audit (Fares vs Refunds)    • 10. Status Distribution (Confirmed vs WL vs Cancel)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11. Train Stop Timetable &amp; Distance Analysis            • 12. High-Value Frequent Passengers (Nested Query)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VERIFICATION &amp; PROGRESS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Database Prototype and Automated 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Actual Execution Evidence (16 Passed Tests in 0.36s)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B48"/>
                </a:solidFill>
              </a:defRPr>
            </a:pPr>
            <a:r>
              <a:t>Automated Test Suite Output (pytest 8.4.2):</a:t>
            </a:r>
            <a:br/>
          </a:p>
          <a:p>
            <a:pPr>
              <a:spcBef>
                <a:spcPts val="600"/>
              </a:spcBef>
              <a:defRPr sz="950">
                <a:solidFill>
                  <a:srgbClr val="10B981"/>
                </a:solidFill>
                <a:latin typeface="Courier New"/>
              </a:defRPr>
            </a:pPr>
            <a:r>
              <a:t>Railway_Reservation_System/tests/test_availability.py::test_interval_overlap_logic PASSED [  6%]</a:t>
            </a:r>
            <a:br/>
            <a:r>
              <a:t>Railway_Reservation_System/tests/test_availability.py::test_non_overlapping_seat_reuse PASSED [ 12%]</a:t>
            </a:r>
            <a:br/>
            <a:r>
              <a:t>Railway_Reservation_System/tests/test_availability.py::test_conflicting_interval_detection PASSED [ 18%]</a:t>
            </a:r>
            <a:br/>
            <a:r>
              <a:t>Railway_Reservation_System/tests/test_cancellations.py::test_eligible_cancellation_and_refund_policy PASSED [ 31%]</a:t>
            </a:r>
            <a:br/>
            <a:r>
              <a:t>Railway_Reservation_System/tests/test_cancellations.py::test_automated_waitlist_promotion PASSED [ 43%]</a:t>
            </a:r>
            <a:br/>
            <a:r>
              <a:t>Railway_Reservation_System/tests/test_integrity.py::test_unique_train_number_constraint PASSED [ 50%]</a:t>
            </a:r>
            <a:br/>
            <a:r>
              <a:t>Railway_Reservation_System/tests/test_integrity.py::test_passenger_age_check_constraint PASSED [ 62%]</a:t>
            </a:r>
            <a:br/>
            <a:r>
              <a:t>Railway_Reservation_System/tests/test_reports.py::test_all_12_reports_execute_successfully PASSED [ 81%]</a:t>
            </a:r>
            <a:br/>
            <a:r>
              <a:t>Railway_Reservation_System/tests/test_reservations.py::test_valid_booking_success PASSED [ 87%]</a:t>
            </a:r>
            <a:br/>
            <a:r>
              <a:t>============================== 16 passed in 0.36s ==============================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NEXT STEPS | REVIEW 2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Milestone Review 3 Objectives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2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Final Review 3 Deliverable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200">
                <a:solidFill>
                  <a:srgbClr val="0F2B48"/>
                </a:solidFill>
              </a:defRPr>
            </a:pPr>
            <a:r>
              <a:t>🎯 Complete End-to-End Browser UI: </a:t>
            </a:r>
            <a:r>
              <a:rPr b="0" sz="1100"/>
              <a:t>Deploy intuitive dashboard, interactive train search, booking wizard, and ERS ticket slip views.</a:t>
            </a:r>
          </a:p>
          <a:p>
            <a:pPr>
              <a:spcAft>
                <a:spcPts val="1400"/>
              </a:spcAft>
              <a:defRPr b="1" sz="1200">
                <a:solidFill>
                  <a:srgbClr val="0F2B48"/>
                </a:solidFill>
              </a:defRPr>
            </a:pPr>
            <a:r>
              <a:t>🎯 Concurrency &amp; Stress Verification: </a:t>
            </a:r>
            <a:r>
              <a:rPr b="0" sz="1100"/>
              <a:t>Verify transaction boundaries and row locking under multi-user simulated requests.</a:t>
            </a:r>
          </a:p>
          <a:p>
            <a:pPr>
              <a:spcAft>
                <a:spcPts val="1400"/>
              </a:spcAft>
              <a:defRPr b="1" sz="1200">
                <a:solidFill>
                  <a:srgbClr val="0F2B48"/>
                </a:solidFill>
              </a:defRPr>
            </a:pPr>
            <a:r>
              <a:t>🎯 Comprehensive Academic Project Report: </a:t>
            </a:r>
            <a:r>
              <a:rPr b="0" sz="1100"/>
              <a:t>Compile full 23-section project report with relational schema, data dictionary, and viva prep.</a:t>
            </a:r>
          </a:p>
          <a:p>
            <a:pPr>
              <a:spcAft>
                <a:spcPts val="1400"/>
              </a:spcAft>
              <a:defRPr b="1" sz="1200">
                <a:solidFill>
                  <a:srgbClr val="0F2B48"/>
                </a:solidFill>
              </a:defRPr>
            </a:pPr>
            <a:r>
              <a:t>🎯 Live Demonstration Sequence: </a:t>
            </a:r>
            <a:r>
              <a:rPr b="0" sz="1100"/>
              <a:t>Deliver repeatable 5-8 minute live demonstration script showcasing seat reuse and waitlist promotion.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