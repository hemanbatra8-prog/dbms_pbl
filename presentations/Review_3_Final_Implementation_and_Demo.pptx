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final Review 3 presentation. Today we demonstrate the completed, fully functional Railway Ticket Reservation and Journey Management System, showcasing our verified relational database, working UI, and automated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outlines the completed architecture linking HTML5/Bootstrap 5 frontend to Flask controllers, business services, and MySQL InnoDB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confirms total structural consistency across all 3 reviews without changing table names or dropping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summarizes the 7 completed software modules running in the live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demonstrates our live Train Search module with an actual application screenshot showing Vande Bharat Express availability on NDLS-BSB.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shows the confirmed Electronic Reservation Slip for PNR 2348912341, confirming coach and seat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shows the live waitlist queue and demonstrates how cancellation atomically promotes eligible candidates.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shows our SQL Reports Hub executing live analytical queries against the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explains the transaction boundaries, row-level locking strategy, and indexing optimizations guaranteeing ACID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presents genuine test execution evidence: 16 test cases passing in 0.36 seconds covering interval overlaps, cancellations, and integrity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addresses real-world engineering constraints and identifies scalable enhancements like Redis caching and live NTES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concludes the review by summarizing key academic contributions and offering crisp, defensible viva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" cy="3840480"/>
          </a:xfrm>
          <a:prstGeom prst="rect">
            <a:avLst/>
          </a:prstGeom>
          <a:solidFill>
            <a:srgbClr val="E6A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oxse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188720"/>
            <a:ext cx="2468880" cy="13324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128016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6A117"/>
                </a:solidFill>
              </a:defRPr>
            </a:pPr>
            <a:r>
              <a:t>WOXSEN UNIVERSITY | SCHOOL OF TECHNOLOGY | DBMS FINAL REVIEW</a:t>
            </a:r>
          </a:p>
          <a:p>
            <a:pPr>
              <a:defRPr b="1" sz="3200">
                <a:solidFill>
                  <a:srgbClr val="FFFFFF"/>
                </a:solidFill>
              </a:defRPr>
            </a:pPr>
            <a:r>
              <a:t>Railway Ticket Reservation and</a:t>
            </a:r>
            <a:br/>
            <a:r>
              <a:t>Journey Management System</a:t>
            </a:r>
          </a:p>
          <a:p>
            <a:pPr>
              <a:spcBef>
                <a:spcPts val="1400"/>
              </a:spcBef>
              <a:defRPr sz="1800">
                <a:solidFill>
                  <a:srgbClr val="CBD5E1"/>
                </a:solidFill>
              </a:defRPr>
            </a:pPr>
            <a:r>
              <a:t>REVIEW 3: Final System Implementation, Verification, and Live Demonstration</a:t>
            </a:r>
          </a:p>
          <a:p>
            <a:pPr>
              <a:spcBef>
                <a:spcPts val="2800"/>
              </a:spcBef>
              <a:defRPr sz="1200">
                <a:solidFill>
                  <a:srgbClr val="94A3B8"/>
                </a:solidFill>
              </a:defRPr>
            </a:pPr>
            <a:r>
              <a:t>Student Name: Heman  |  Roll Number: 25WU0102097  |  Section: AIML Rhinos</a:t>
            </a:r>
            <a:br/>
            <a:r>
              <a:t>Faculty Mentor: Prof. Sahithi  |  School of Technology, Woxsen University  |  Week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SYSTEM ARCHITECTURE | REVIEW 3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Final System Architecture and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3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Production Multi-Tier Implementation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011680"/>
            <a:ext cx="219456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spcAft>
                <a:spcPts val="1200"/>
              </a:spcAft>
              <a:defRPr sz="1300" b="1">
                <a:solidFill>
                  <a:srgbClr val="0F2B48"/>
                </a:solidFill>
                <a:latin typeface="Arial"/>
              </a:defRPr>
            </a:pPr>
            <a:r>
              <a:t>Web Frontend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Bootstrap 5 &amp; HTML5</a:t>
            </a:r>
            <a:br/>
            <a:r>
              <a:t>Responsive Navbar &amp; Alerts</a:t>
            </a:r>
            <a:br/>
            <a:r>
              <a:t>ERS Ticket Slips</a:t>
            </a:r>
            <a:br/>
            <a:r>
              <a:t>JavaScript Auto-loader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011680"/>
            <a:ext cx="219456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spcAft>
                <a:spcPts val="1200"/>
              </a:spcAft>
              <a:defRPr sz="1300" b="1">
                <a:solidFill>
                  <a:srgbClr val="0F2B48"/>
                </a:solidFill>
                <a:latin typeface="Arial"/>
              </a:defRPr>
            </a:pPr>
            <a:r>
              <a:t>Application Core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Python 3.9 &amp; Flask</a:t>
            </a:r>
            <a:br/>
            <a:r>
              <a:t>8 Modular Blueprints</a:t>
            </a:r>
            <a:br/>
            <a:r>
              <a:t>Form Validations</a:t>
            </a:r>
            <a:br/>
            <a:r>
              <a:t>Custom Jinja2 Filters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219456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spcAft>
                <a:spcPts val="1200"/>
              </a:spcAft>
              <a:defRPr sz="1300" b="1">
                <a:solidFill>
                  <a:srgbClr val="0F2B48"/>
                </a:solidFill>
                <a:latin typeface="Arial"/>
              </a:defRPr>
            </a:pPr>
            <a:r>
              <a:t>Business Engine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Availability Service [s, e)</a:t>
            </a:r>
            <a:br/>
            <a:r>
              <a:t>Transaction Safe Booking</a:t>
            </a:r>
            <a:br/>
            <a:r>
              <a:t>Pessimistic Row Locks</a:t>
            </a:r>
            <a:br/>
            <a:r>
              <a:t>Atomic WL Promotion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011680"/>
            <a:ext cx="219456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spcAft>
                <a:spcPts val="1200"/>
              </a:spcAft>
              <a:defRPr sz="1300" b="1">
                <a:solidFill>
                  <a:srgbClr val="0F2B48"/>
                </a:solidFill>
                <a:latin typeface="Arial"/>
              </a:defRPr>
            </a:pPr>
            <a:r>
              <a:t>Database Tier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MySQL 8.x InnoDB Engine</a:t>
            </a:r>
            <a:br/>
            <a:r>
              <a:t>14 Relations in 3NF</a:t>
            </a:r>
            <a:br/>
            <a:r>
              <a:t>4 Relational Views</a:t>
            </a:r>
            <a:br/>
            <a:r>
              <a:t>12 SQL Benchmark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DATABASE DESIGN | REVIEW 3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Implemented ER Diagram and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3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Fully Consistent 14-Table 3NF Relational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150">
                <a:solidFill>
                  <a:srgbClr val="0F2B48"/>
                </a:solidFill>
              </a:defRPr>
            </a:pPr>
            <a:r>
              <a:t>✔ Identical Schema Consistency: </a:t>
            </a:r>
            <a:r>
              <a:rPr b="0" sz="1050"/>
              <a:t>The implemented database schema strictly matches the ER design from Review 1 and normalization proofs from Review 2 without discrepancies.</a:t>
            </a:r>
          </a:p>
          <a:p>
            <a:pPr>
              <a:spcAft>
                <a:spcPts val="1000"/>
              </a:spcAft>
              <a:defRPr b="1" sz="1150">
                <a:solidFill>
                  <a:srgbClr val="0F2B48"/>
                </a:solidFill>
              </a:defRPr>
            </a:pPr>
            <a:r>
              <a:t>✔ Entity Separation: </a:t>
            </a:r>
            <a:r>
              <a:rPr b="0" sz="1050"/>
              <a:t>Stations, Routes, Ordered Stops, Locomotive Definitions, Dated Runs, Rolling Stock Coaches, and Individual Seat Units are completely decoupled.</a:t>
            </a:r>
          </a:p>
          <a:p>
            <a:pPr>
              <a:spcAft>
                <a:spcPts val="1000"/>
              </a:spcAft>
              <a:defRPr b="1" sz="1150">
                <a:solidFill>
                  <a:srgbClr val="0F2B48"/>
                </a:solidFill>
              </a:defRPr>
            </a:pPr>
            <a:r>
              <a:t>✔ Transactional Integrity: </a:t>
            </a:r>
            <a:r>
              <a:rPr b="0" sz="1050"/>
              <a:t>Bookings, Journey_Segments, Waitlists, Payments, and Cancellations maintain complete auditability through foreign keys and composite unique constraints.</a:t>
            </a:r>
          </a:p>
          <a:p>
            <a:pPr>
              <a:spcAft>
                <a:spcPts val="1000"/>
              </a:spcAft>
              <a:defRPr b="1" sz="1150">
                <a:solidFill>
                  <a:srgbClr val="0F2B48"/>
                </a:solidFill>
              </a:defRPr>
            </a:pPr>
            <a:r>
              <a:t>✔ Monetary Precision: </a:t>
            </a:r>
            <a:r>
              <a:rPr b="0" sz="1050"/>
              <a:t>All currency columns use DECIMAL(10,2) eliminating binary floating-point rounding errors.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MODULE INVENTORY | REVIEW 3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Completed Application Modules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3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Implemented Software Modules (100% Complete)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b="1" sz="1050">
                <a:solidFill>
                  <a:srgbClr val="0F2B48"/>
                </a:solidFill>
              </a:defRPr>
            </a:pPr>
            <a:r>
              <a:t>• Dashboard Module (/): </a:t>
            </a:r>
            <a:r>
              <a:rPr b="0" sz="1000"/>
              <a:t>Live database KPI summary cards: total trains, passengers, bookings, waitlists, revenue.</a:t>
            </a:r>
          </a:p>
          <a:p>
            <a:pPr>
              <a:spcAft>
                <a:spcPts val="500"/>
              </a:spcAft>
              <a:defRPr b="1" sz="1050">
                <a:solidFill>
                  <a:srgbClr val="0F2B48"/>
                </a:solidFill>
              </a:defRPr>
            </a:pPr>
            <a:r>
              <a:t>• Train Search &amp; Timetable (/search): </a:t>
            </a:r>
            <a:r>
              <a:rPr b="0" sz="1000"/>
              <a:t>Origin/destination route matching, stop timetable ordering, live segment seat availability.</a:t>
            </a:r>
          </a:p>
          <a:p>
            <a:pPr>
              <a:spcAft>
                <a:spcPts val="500"/>
              </a:spcAft>
              <a:defRPr b="1" sz="1050">
                <a:solidFill>
                  <a:srgbClr val="0F2B48"/>
                </a:solidFill>
              </a:defRPr>
            </a:pPr>
            <a:r>
              <a:t>• Passenger Profile Module (/passengers): </a:t>
            </a:r>
            <a:r>
              <a:rPr b="0" sz="1000"/>
              <a:t>Passenger registration with age domain check (1-119) and government ID validation.</a:t>
            </a:r>
          </a:p>
          <a:p>
            <a:pPr>
              <a:spcAft>
                <a:spcPts val="500"/>
              </a:spcAft>
              <a:defRPr b="1" sz="1050">
                <a:solidFill>
                  <a:srgbClr val="0F2B48"/>
                </a:solidFill>
              </a:defRPr>
            </a:pPr>
            <a:r>
              <a:t>• Reservation &amp; ERS Module (/book, /booking/&lt;pnr&gt;): </a:t>
            </a:r>
            <a:r>
              <a:rPr b="0" sz="1000"/>
              <a:t>Atomic booking, berth allocation, PNR generation, payment simulation, and printable ERS slip.</a:t>
            </a:r>
          </a:p>
          <a:p>
            <a:pPr>
              <a:spcAft>
                <a:spcPts val="500"/>
              </a:spcAft>
              <a:defRPr b="1" sz="1050">
                <a:solidFill>
                  <a:srgbClr val="0F2B48"/>
                </a:solidFill>
              </a:defRPr>
            </a:pPr>
            <a:r>
              <a:t>• Cancellation &amp; Refund Module (/cancel): </a:t>
            </a:r>
            <a:r>
              <a:rPr b="0" sz="1000"/>
              <a:t>PNR lookup, refund preview (20% fee deduction), and automated waitlist promotion trigger.</a:t>
            </a:r>
          </a:p>
          <a:p>
            <a:pPr>
              <a:spcAft>
                <a:spcPts val="500"/>
              </a:spcAft>
              <a:defRPr b="1" sz="1050">
                <a:solidFill>
                  <a:srgbClr val="0F2B48"/>
                </a:solidFill>
              </a:defRPr>
            </a:pPr>
            <a:r>
              <a:t>• Waitlist Registry (/waitlist): </a:t>
            </a:r>
            <a:r>
              <a:rPr b="0" sz="1000"/>
              <a:t>Live FIFO queue position tracking across runs and travel classes.</a:t>
            </a:r>
          </a:p>
          <a:p>
            <a:pPr>
              <a:spcAft>
                <a:spcPts val="500"/>
              </a:spcAft>
              <a:defRPr b="1" sz="1050">
                <a:solidFill>
                  <a:srgbClr val="0F2B48"/>
                </a:solidFill>
              </a:defRPr>
            </a:pPr>
            <a:r>
              <a:t>• SQL Reports Hub (/reports): </a:t>
            </a:r>
            <a:r>
              <a:rPr b="0" sz="1000"/>
              <a:t>Interactive execution of all 12 benchmark SQL reports with dynamic data tables.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LIVE SYSTEM DEMONSTRATION | REVIEW 3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Train Search and Live Segment-Wise Availability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3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303520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Operational Feature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User selects Origin (NDLS), Destination (BSB), and Travel Date (2026-10-14).</a:t>
            </a:r>
            <a:br/>
            <a:br/>
            <a:r>
              <a:t>• Relational query validates route progression (Stop 1 precedes Stop 4).</a:t>
            </a:r>
            <a:br/>
            <a:br/>
            <a:r>
              <a:t>• Segment availability algorithm tests interval overlap across all physical seats in CC and 1A coaches.</a:t>
            </a:r>
            <a:br/>
            <a:br/>
            <a:r>
              <a:t>• Live status cards display remaining free seats or active waitlist positions with calculated fares.</a:t>
            </a:r>
          </a:p>
        </p:txBody>
      </p:sp>
      <p:pic>
        <p:nvPicPr>
          <p:cNvPr id="8" name="Picture 7" descr="search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212080" cy="31663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LIVE SYSTEM DEMONSTRATION | REVIEW 3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Confirmed Reservation and Seat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3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303520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Electronic Reservation Slip (ERS)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Transaction safety: Row-level lock (FOR UPDATE) acquired during seat assignment.</a:t>
            </a:r>
            <a:br/>
            <a:br/>
            <a:r>
              <a:t>• Generates unique 10-digit PNR and binds passenger profile.</a:t>
            </a:r>
            <a:br/>
            <a:br/>
            <a:r>
              <a:t>• Inserts active JourneySegment over [1, 2) and records completed Payment.</a:t>
            </a:r>
            <a:br/>
            <a:br/>
            <a:r>
              <a:t>• Renders printable Electronic Reservation Slip showing Coach, Seat number, and Berth Type.</a:t>
            </a:r>
          </a:p>
        </p:txBody>
      </p:sp>
      <p:pic>
        <p:nvPicPr>
          <p:cNvPr id="8" name="Picture 7" descr="booking_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212080" cy="31663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LIVE SYSTEM DEMONSTRATION | REVIEW 3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Waitlist Queue and Automated Promotion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3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303520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Atomic FIFO Promotion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Exhausted Capacity: When class capacity is full, passenger is queued at Position WL #1.</a:t>
            </a:r>
            <a:br/>
            <a:br/>
            <a:r>
              <a:t>• Cancellation Trigger: Cancelling a confirmed booking deducts a 20% cancellation fee, refunds 80%, and marks the segment CANCELLED.</a:t>
            </a:r>
            <a:br/>
            <a:br/>
            <a:r>
              <a:t>• Atomic Promotion: The system checks the waitlist queue in FIFO order, re-verifies segment availability, assigns the freed seat, and updates status to PROMOTED in one atomic transaction.</a:t>
            </a:r>
          </a:p>
        </p:txBody>
      </p:sp>
      <p:pic>
        <p:nvPicPr>
          <p:cNvPr id="8" name="Picture 7" descr="waitlist_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212080" cy="31663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ANALYTICAL REPORTING | REVIEW 3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SQL Reports Hub and Database-Backed CRUD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3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303520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12 Real-Time Analytical SQL Queries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Interactive Reports Hub: Select between 12 benchmark SQL reports.</a:t>
            </a:r>
            <a:br/>
            <a:br/>
            <a:r>
              <a:t>• Demonstrates Joins, GROUP BY, HAVING, and scalar subqueries.</a:t>
            </a:r>
            <a:br/>
            <a:br/>
            <a:r>
              <a:t>• Financial Reconciliation: Audits gross booking value vs payments collected vs refunds disbursed.</a:t>
            </a:r>
            <a:br/>
            <a:br/>
            <a:r>
              <a:t>• Coach Occupancy: Computes exact percentage occupancy per physical carriage.</a:t>
            </a:r>
          </a:p>
        </p:txBody>
      </p:sp>
      <p:pic>
        <p:nvPicPr>
          <p:cNvPr id="8" name="Picture 7" descr="sql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212080" cy="31663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ACID &amp; CONCURRENCY | REVIEW 3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Transaction Boundaries, Locking, and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3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ACID Enforcement and Concurrency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b="1" sz="1150">
                <a:solidFill>
                  <a:srgbClr val="0F2B48"/>
                </a:solidFill>
              </a:defRPr>
            </a:pPr>
            <a:r>
              <a:t>✔ Atomicity: </a:t>
            </a:r>
            <a:r>
              <a:rPr b="0" sz="1050"/>
              <a:t>db.session.begin_nested() ensures that if seat assignment or payment fails, all related insertions roll back cleanly.</a:t>
            </a:r>
          </a:p>
          <a:p>
            <a:pPr>
              <a:spcAft>
                <a:spcPts val="800"/>
              </a:spcAft>
              <a:defRPr b="1" sz="1150">
                <a:solidFill>
                  <a:srgbClr val="0F2B48"/>
                </a:solidFill>
              </a:defRPr>
            </a:pPr>
            <a:r>
              <a:t>✔ Consistency: </a:t>
            </a:r>
            <a:r>
              <a:rPr b="0" sz="1050"/>
              <a:t>Declarative CHECK constraints (age &gt; 0, fare &gt;= 0, dest &gt; orig) and Foreign Keys maintain valid relational states.</a:t>
            </a:r>
          </a:p>
          <a:p>
            <a:pPr>
              <a:spcAft>
                <a:spcPts val="800"/>
              </a:spcAft>
              <a:defRPr b="1" sz="1150">
                <a:solidFill>
                  <a:srgbClr val="0F2B48"/>
                </a:solidFill>
              </a:defRPr>
            </a:pPr>
            <a:r>
              <a:t>✔ Isolation &amp; Row Locking: </a:t>
            </a:r>
            <a:r>
              <a:rPr b="0" sz="1050"/>
              <a:t>SELECT ... FOR UPDATE places exclusive row locks on TrainRun / Seat rows, serializing competing reservations and eliminating double-booking race conditions.</a:t>
            </a:r>
          </a:p>
          <a:p>
            <a:pPr>
              <a:spcAft>
                <a:spcPts val="800"/>
              </a:spcAft>
              <a:defRPr b="1" sz="1150">
                <a:solidFill>
                  <a:srgbClr val="0F2B48"/>
                </a:solidFill>
              </a:defRPr>
            </a:pPr>
            <a:r>
              <a:t>✔ Durability: </a:t>
            </a:r>
            <a:r>
              <a:rPr b="0" sz="1050"/>
              <a:t>InnoDB transaction write-ahead logs (redo_log) guarantee data persistence across sudden server crashes.</a:t>
            </a:r>
          </a:p>
          <a:p>
            <a:pPr>
              <a:spcAft>
                <a:spcPts val="800"/>
              </a:spcAft>
              <a:defRPr b="1" sz="1150">
                <a:solidFill>
                  <a:srgbClr val="0F2B48"/>
                </a:solidFill>
              </a:defRPr>
            </a:pPr>
            <a:r>
              <a:t>✔ Indexing Performance: </a:t>
            </a:r>
            <a:r>
              <a:rPr b="0" sz="1050"/>
              <a:t>B-Tree indexes on (run_id, seat_id, allocation_status) allow interval overlap checks to execute in sub-millisecond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AUTOMATED TESTING VERIFICATION | REVIEW 3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Testing Methodology and Verified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3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16 Automated Tests Executed via pytest (100% Pass Rate)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920240"/>
          <a:ext cx="103327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3840480"/>
                <a:gridCol w="1280160"/>
              </a:tblGrid>
              <a:tr h="43688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Test Case</a:t>
                      </a:r>
                    </a:p>
                  </a:txBody>
                  <a:tcPr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Verification Goal</a:t>
                      </a:r>
                    </a:p>
                  </a:txBody>
                  <a:tcPr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F2B48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test_interval_overlap_logic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Mathematical half-open interval overlap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test_non_overlapping_seat_reuse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Business Logic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Seat C1-1 concurrently held on [1,2) and [2,4)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test_conflicting_interval_detection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Integrity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Conflicting request for [1,4) correctly rejected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test_cancelled_allocation_restores_availability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State Machine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Cancelling segment frees seat for subsequent booking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test_eligible_cancellation_and_refund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Financial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20% fee deducted; 80% refunded to passenger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test_duplicate_cancellation_rejected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Transactions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Second cancellation attempt raises ValueError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test_automated_waitlist_promotion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Queue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Freeing confirmed seat promotes WL candidate atomically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test_all_12_reports_execute_successfully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SQL Analytics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All 12 benchmark queries execute without errors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ENGINEERING EVALUATION | REVIEW 3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Limitations and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3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Current Prototype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Simulated Financial Gateway: Simulated UPI/Card processing without live banking webhooks.</a:t>
            </a:r>
            <a:br/>
            <a:br/>
            <a:r>
              <a:t>• Static Timetables: Fixed scheduled departures without real-time GPS locomotive tracking.</a:t>
            </a:r>
            <a:br/>
            <a:br/>
            <a:r>
              <a:t>• Single RDBMS Node: Local relational database instance rather than distributed multi-region cluster.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Future Scope &amp; Production 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Real-Time NTES Integration: Live train delay tracking and platform assignment feeds.</a:t>
            </a:r>
            <a:br/>
            <a:br/>
            <a:r>
              <a:t>• Redis Inventory Caching: High-throughput memory bitsets to handle massive concurrent Tatkal spikes.</a:t>
            </a:r>
            <a:br/>
            <a:br/>
            <a:r>
              <a:t>• Dynamic AI Pricing: Predictive demand modeling adjusting fares and estimating waitlist confirmation probability.</a:t>
            </a:r>
            <a:br/>
            <a:br/>
            <a:r>
              <a:t>• Read Replicas: Offloading analytical reporting queries to MySQL read replicas.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SUMMARY &amp; VIVA DEFENSE | REVIEW 3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Conclusion and Viva Voce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3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Key Academic Takeaways &amp; Ready Viva Defenses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100">
                <a:solidFill>
                  <a:srgbClr val="0F2B48"/>
                </a:solidFill>
              </a:defRPr>
            </a:pPr>
            <a:r>
              <a:t>Q: Why is 3NF necessary?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A: Decoupling train definitions from dated runs, and passenger profiles from bookings, prevents update and insertion anomalies.</a:t>
            </a:r>
          </a:p>
          <a:p>
            <a:pPr>
              <a:defRPr b="1" sz="1100">
                <a:solidFill>
                  <a:srgbClr val="0F2B48"/>
                </a:solidFill>
              </a:defRPr>
            </a:pPr>
            <a:r>
              <a:t>Q: How is seat reuse solved?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A: Half-open intervals [s, e) tested via s &lt; r_end AND r_start &lt; e allow disjoint passenger journeys on the same seat.</a:t>
            </a:r>
          </a:p>
          <a:p>
            <a:pPr>
              <a:defRPr b="1" sz="1100">
                <a:solidFill>
                  <a:srgbClr val="0F2B48"/>
                </a:solidFill>
              </a:defRPr>
            </a:pPr>
            <a:r>
              <a:t>Q: How are race conditions prevented?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A: ACID transactions with pessimistic row locking (SELECT ... FOR UPDATE) serialize competing requests.</a:t>
            </a:r>
          </a:p>
          <a:p>
            <a:pPr>
              <a:defRPr b="1" sz="1100">
                <a:solidFill>
                  <a:srgbClr val="0F2B48"/>
                </a:solidFill>
              </a:defRPr>
            </a:pPr>
            <a:r>
              <a:t>Q: Why use DECIMAL?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A: Fixed-point DECIMAL(10,2) prevents binary floating-point rounding errors in fares and refunds.</a:t>
            </a:r>
          </a:p>
          <a:p>
            <a:pPr>
              <a:defRPr b="1" sz="1100">
                <a:solidFill>
                  <a:srgbClr val="0F2B48"/>
                </a:solidFill>
              </a:defRPr>
            </a:pPr>
            <a:r>
              <a:t>Q: How are waitlists promoted?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A: Automated FIFO queue evaluation re-checks segment availability and promotes candidates atomically.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